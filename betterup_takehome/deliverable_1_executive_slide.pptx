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69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TechCorp's Coaching Investment Is Delivering</a:t>
            </a:r>
            <a:r>
              <a:rPr sz="2600" b="0">
                <a:solidFill>
                  <a:srgbClr val="4A69BD"/>
                </a:solidFill>
                <a:latin typeface="Calibri"/>
              </a:rPr>
              <a:t> — Recommend Renewal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Mid-Year Business Value Review  |  July 2025  |  500 Licenses  |  6 Months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A69BD"/>
                </a:solidFill>
                <a:latin typeface="Calibri"/>
              </a:rPr>
              <a:t>IS THE PROGRAM BEING USED?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Calibri"/>
              </a:rPr>
              <a:t>298</a:t>
            </a:r>
            <a:r>
              <a:rPr sz="1400" b="0">
                <a:solidFill>
                  <a:srgbClr val="666666"/>
                </a:solidFill>
                <a:latin typeface="Calibri"/>
              </a:rPr>
              <a:t>  active coaching users</a:t>
            </a:r>
          </a:p>
          <a:p>
            <a:r>
              <a:rPr sz="1050" b="0">
                <a:solidFill>
                  <a:srgbClr val="666666"/>
                </a:solidFill>
                <a:latin typeface="Calibri"/>
              </a:rPr>
              <a:t>60% of purchased licenses actively engaged in coaching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Calibri"/>
              </a:rPr>
              <a:t>4.2</a:t>
            </a:r>
            <a:r>
              <a:rPr sz="1400" b="0">
                <a:solidFill>
                  <a:srgbClr val="666666"/>
                </a:solidFill>
                <a:latin typeface="Calibri"/>
              </a:rPr>
              <a:t>  avg sessions per user</a:t>
            </a:r>
          </a:p>
          <a:p>
            <a:r>
              <a:rPr sz="1050" b="0">
                <a:solidFill>
                  <a:srgbClr val="666666"/>
                </a:solidFill>
                <a:latin typeface="Calibri"/>
              </a:rPr>
              <a:t>Sustained, repeated engagement — not one-and-done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337560"/>
            <a:ext cx="5394960" cy="7772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5120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4A69BD"/>
                </a:solidFill>
                <a:latin typeface="Calibri"/>
              </a:rPr>
              <a:t>~75%</a:t>
            </a:r>
            <a:r>
              <a:rPr sz="1300" b="0">
                <a:solidFill>
                  <a:srgbClr val="1A1A1A"/>
                </a:solidFill>
                <a:latin typeface="Calibri"/>
              </a:rPr>
              <a:t>  projected utilization by renewal</a:t>
            </a:r>
          </a:p>
          <a:p>
            <a:r>
              <a:rPr sz="1050" b="0">
                <a:solidFill>
                  <a:srgbClr val="666666"/>
                </a:solidFill>
                <a:latin typeface="Calibri"/>
              </a:rPr>
              <a:t>On current momentum alone, without deploying new engagement strategies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463040"/>
            <a:ext cx="13716" cy="29260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A69BD"/>
                </a:solidFill>
                <a:latin typeface="Calibri"/>
              </a:rPr>
              <a:t>ARE EMPLOYEES FINDING VALUE?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5120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Calibri"/>
              </a:rPr>
              <a:t>NPS +45</a:t>
            </a:r>
          </a:p>
          <a:p>
            <a:r>
              <a:rPr sz="1050" b="0">
                <a:solidFill>
                  <a:srgbClr val="666666"/>
                </a:solidFill>
                <a:latin typeface="Calibri"/>
              </a:rPr>
              <a:t>Top quartile — industry average is ~+30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Calibri"/>
              </a:rPr>
              <a:t>4.3</a:t>
            </a:r>
            <a:r>
              <a:rPr sz="1800" b="0">
                <a:solidFill>
                  <a:srgbClr val="666666"/>
                </a:solidFill>
                <a:latin typeface="Calibri"/>
              </a:rPr>
              <a:t> / 5.0</a:t>
            </a:r>
            <a:r>
              <a:rPr sz="1400" b="0">
                <a:solidFill>
                  <a:srgbClr val="666666"/>
                </a:solidFill>
                <a:latin typeface="Calibri"/>
              </a:rPr>
              <a:t>  overall satisfaction</a:t>
            </a:r>
          </a:p>
          <a:p>
            <a:r>
              <a:rPr sz="1200" b="1">
                <a:solidFill>
                  <a:srgbClr val="1A1A1A"/>
                </a:solidFill>
                <a:latin typeface="Calibri"/>
              </a:rPr>
              <a:t>4.5 / 5.0</a:t>
            </a:r>
            <a:r>
              <a:rPr sz="1050" b="0">
                <a:solidFill>
                  <a:srgbClr val="666666"/>
                </a:solidFill>
                <a:latin typeface="Calibri"/>
              </a:rPr>
              <a:t>  "My coach helps me achieve my goals"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337560"/>
            <a:ext cx="5394960" cy="7772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01568"/>
            <a:ext cx="5120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4A69BD"/>
                </a:solidFill>
                <a:latin typeface="Calibri"/>
              </a:rPr>
              <a:t>52%</a:t>
            </a:r>
            <a:r>
              <a:rPr sz="1300" b="0">
                <a:solidFill>
                  <a:srgbClr val="1A1A1A"/>
                </a:solidFill>
                <a:latin typeface="Calibri"/>
              </a:rPr>
              <a:t>  survey response rate</a:t>
            </a:r>
          </a:p>
          <a:p>
            <a:r>
              <a:rPr sz="1050" b="0">
                <a:solidFill>
                  <a:srgbClr val="666666"/>
                </a:solidFill>
                <a:latin typeface="Calibri"/>
              </a:rPr>
              <a:t>Well above the typical 25–35% — employees are engaged enough to give feedback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63440"/>
            <a:ext cx="12191695" cy="1463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00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0B4E0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Renew.</a:t>
            </a:r>
            <a:r>
              <a:rPr sz="1500" b="0">
                <a:solidFill>
                  <a:srgbClr val="D0D8EE"/>
                </a:solidFill>
                <a:latin typeface="Calibri"/>
              </a:rPr>
              <a:t>  The foundation is strong — high satisfaction, deep engagement, and sustained adoption growth.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0B4E0"/>
                </a:solidFill>
                <a:latin typeface="Calibri"/>
              </a:rPr>
              <a:t>A targeted activation strategy, starting now, can strengthen the growth trend and further maximize ROI heading into renewal.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Calibri"/>
              </a:rPr>
              <a:t>BetterUp  |  Confidential  |  Prepared for TechCorp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